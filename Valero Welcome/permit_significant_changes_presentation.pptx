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7680960" cy="54864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600" b="1">
                <a:solidFill>
                  <a:srgbClr val="182836"/>
                </a:solidFill>
                <a:latin typeface="Arial"/>
              </a:rPr>
              <a:t>Valero Welcome Permit Draft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97280"/>
            <a:ext cx="7315200" cy="38404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500" b="0">
                <a:solidFill>
                  <a:srgbClr val="80959E"/>
                </a:solidFill>
                <a:latin typeface="Arial"/>
              </a:rPr>
              <a:t>Discussion deck focused on unrequested or unexplained draft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40"/>
            <a:ext cx="2240280" cy="384048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64792"/>
            <a:ext cx="1920240" cy="18288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Overall outcome: Significant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097280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697480"/>
            <a:ext cx="24688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697480"/>
            <a:ext cx="109728" cy="868680"/>
          </a:xfrm>
          <a:prstGeom prst="rect">
            <a:avLst/>
          </a:prstGeom>
          <a:solidFill>
            <a:srgbClr val="18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770632"/>
            <a:ext cx="2249424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80959E"/>
                </a:solidFill>
                <a:latin typeface="Arial"/>
              </a:rPr>
              <a:t>Comparison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008376"/>
            <a:ext cx="2249424" cy="32918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400" b="1">
                <a:solidFill>
                  <a:srgbClr val="182836"/>
                </a:solidFill>
                <a:latin typeface="Arial"/>
              </a:rPr>
              <a:t>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697480"/>
            <a:ext cx="24688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2697480"/>
            <a:ext cx="109728" cy="868680"/>
          </a:xfrm>
          <a:prstGeom prst="rect">
            <a:avLst/>
          </a:prstGeom>
          <a:solidFill>
            <a:srgbClr val="FE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770632"/>
            <a:ext cx="2249424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80959E"/>
                </a:solidFill>
                <a:latin typeface="Arial"/>
              </a:rPr>
              <a:t>Highlight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008376"/>
            <a:ext cx="2249424" cy="32918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400" b="1">
                <a:solidFill>
                  <a:srgbClr val="182836"/>
                </a:solidFill>
                <a:latin typeface="Arial"/>
              </a:rPr>
              <a:t>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697480"/>
            <a:ext cx="24688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697480"/>
            <a:ext cx="109728" cy="868680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770632"/>
            <a:ext cx="2249424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80959E"/>
                </a:solidFill>
                <a:latin typeface="Arial"/>
              </a:rPr>
              <a:t>High-risk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008376"/>
            <a:ext cx="2249424" cy="32918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400" b="1">
                <a:solidFill>
                  <a:srgbClr val="182836"/>
                </a:solidFill>
                <a:latin typeface="Arial"/>
              </a:rPr>
              <a:t>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2697480"/>
            <a:ext cx="24688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2697480"/>
            <a:ext cx="109728" cy="868680"/>
          </a:xfrm>
          <a:prstGeom prst="rect">
            <a:avLst/>
          </a:prstGeom>
          <a:solidFill>
            <a:srgbClr val="60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2770632"/>
            <a:ext cx="2249424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80959E"/>
                </a:solidFill>
                <a:latin typeface="Arial"/>
              </a:rPr>
              <a:t>Minor / no-change rows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3008376"/>
            <a:ext cx="2249424" cy="32918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400" b="1">
                <a:solidFill>
                  <a:srgbClr val="182836"/>
                </a:solidFill>
                <a:latin typeface="Arial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886200"/>
            <a:ext cx="36576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500" b="1">
                <a:solidFill>
                  <a:srgbClr val="182836"/>
                </a:solidFill>
                <a:latin typeface="Arial"/>
              </a:rPr>
              <a:t>Primary themes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60520"/>
            <a:ext cx="10058400" cy="13716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Modeling framework shifts from PM10 trigger language to boundary-control and public-access obligations.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New ambient-boundary inspection, patrol, and breach-reporting requirements create recurring compliance tasks.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Draft permit introduces multiple changes not clearly identified in the major amendment application narrative.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Only the slipped-in items are expanded in this deck; requested STRU 11 AOS revisions stay in the spreadsheet.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76072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400" b="1">
                <a:solidFill>
                  <a:srgbClr val="182836"/>
                </a:solidFill>
                <a:latin typeface="Arial"/>
              </a:rP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14400"/>
            <a:ext cx="3749039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310896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500" b="1">
                <a:solidFill>
                  <a:srgbClr val="182836"/>
                </a:solidFill>
                <a:latin typeface="Arial"/>
              </a:rPr>
              <a:t>Counts by change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3108960" cy="141732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Revision: 14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Addition: 7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Deletion: 2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Possible relocation or renumbering: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310896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500" b="1">
                <a:solidFill>
                  <a:srgbClr val="182836"/>
                </a:solidFill>
                <a:latin typeface="Arial"/>
              </a:rPr>
              <a:t>Top subject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01568"/>
            <a:ext cx="3108960" cy="219456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80959E"/>
                </a:solidFill>
                <a:latin typeface="Arial"/>
              </a:defRPr>
            </a:pPr>
            <a:r>
              <a:t>Performance Testing: 4</a:t>
            </a:r>
          </a:p>
          <a:p>
            <a:pPr>
              <a:spcAft>
                <a:spcPts val="400"/>
              </a:spcAft>
              <a:defRPr sz="1500">
                <a:solidFill>
                  <a:srgbClr val="80959E"/>
                </a:solidFill>
                <a:latin typeface="Arial"/>
              </a:defRPr>
            </a:pPr>
            <a:r>
              <a:t>CAM: 4</a:t>
            </a:r>
          </a:p>
          <a:p>
            <a:pPr>
              <a:spcAft>
                <a:spcPts val="400"/>
              </a:spcAft>
              <a:defRPr sz="1500">
                <a:solidFill>
                  <a:srgbClr val="80959E"/>
                </a:solidFill>
                <a:latin typeface="Arial"/>
              </a:defRPr>
            </a:pPr>
            <a:r>
              <a:t>Administrative: 2</a:t>
            </a:r>
          </a:p>
          <a:p>
            <a:pPr>
              <a:spcAft>
                <a:spcPts val="400"/>
              </a:spcAft>
              <a:defRPr sz="1500">
                <a:solidFill>
                  <a:srgbClr val="80959E"/>
                </a:solidFill>
                <a:latin typeface="Arial"/>
              </a:defRPr>
            </a:pPr>
            <a:r>
              <a:t>Modeling: 2</a:t>
            </a:r>
          </a:p>
          <a:p>
            <a:pPr>
              <a:spcAft>
                <a:spcPts val="400"/>
              </a:spcAft>
              <a:defRPr sz="1500">
                <a:solidFill>
                  <a:srgbClr val="80959E"/>
                </a:solidFill>
                <a:latin typeface="Arial"/>
              </a:defRPr>
            </a:pPr>
            <a:r>
              <a:t>Monitoring: 2</a:t>
            </a:r>
          </a:p>
          <a:p>
            <a:pPr>
              <a:spcAft>
                <a:spcPts val="400"/>
              </a:spcAft>
              <a:defRPr sz="1500">
                <a:solidFill>
                  <a:srgbClr val="80959E"/>
                </a:solidFill>
                <a:latin typeface="Arial"/>
              </a:defRPr>
            </a:pPr>
            <a:r>
              <a:t>Control Equipment: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914400"/>
            <a:ext cx="7040880" cy="5257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115568"/>
            <a:ext cx="502920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500" b="1">
                <a:solidFill>
                  <a:srgbClr val="182836"/>
                </a:solidFill>
                <a:latin typeface="Arial"/>
              </a:rPr>
              <a:t>Slides included in this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444752"/>
            <a:ext cx="6309360" cy="219456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Permit-wide and modeling changes replacing the existing PM10 framework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Ambient boundary, fencing, breach-reporting, patrol, and camera obligations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Unrequested STRU 11 language changes, including throughput and AOS applicability issues</a:t>
            </a:r>
          </a:p>
          <a:p>
            <a:pPr>
              <a:spcAft>
                <a:spcPts val="400"/>
              </a:spcAft>
              <a:defRPr sz="1600">
                <a:solidFill>
                  <a:srgbClr val="80959E"/>
                </a:solidFill>
                <a:latin typeface="Arial"/>
              </a:defRPr>
            </a:pPr>
            <a:r>
              <a:t>CAM and testing revisions not clearly requested in the application 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977639"/>
            <a:ext cx="6309360" cy="7315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700" b="0">
                <a:solidFill>
                  <a:srgbClr val="80959E"/>
                </a:solidFill>
                <a:latin typeface="Arial"/>
              </a:rPr>
              <a:t>Use this deck for discussion. Use the spreadsheet for full analysis and line-item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400" b="1">
                <a:solidFill>
                  <a:srgbClr val="182836"/>
                </a:solidFill>
                <a:latin typeface="Arial"/>
              </a:rPr>
              <a:t>Significant Change Index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14400"/>
            <a:ext cx="1097280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548640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097280"/>
            <a:ext cx="2377440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Subject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097280"/>
            <a:ext cx="3657600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Core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097280"/>
            <a:ext cx="731520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1097280"/>
            <a:ext cx="1097280" cy="2286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Follow-up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417320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Emission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17320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numerical PM, PM10, PM2.5, and opacity limits are carried forward, but the draft now states these...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417320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FE7349"/>
                </a:solidFill>
                <a:latin typeface="Arial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1417320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Consider comment on draft and ask the...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1847088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892808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892808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Ambient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892808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draft adds a General Public Preclusion Plan framework built around an effective fence line and a...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892808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FE7349"/>
                </a:solidFill>
                <a:latin typeface="Arial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1892808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Confirm with agency that Appendix C...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2322576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368296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2368296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Modeling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368296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issued permit includes a full PM10 EBD and refined-modeling framework: submittal content,...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368296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FE7349"/>
                </a:solidFill>
                <a:latin typeface="Arial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368296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Flag for client discussion and confirm...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2798064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843784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2843784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843784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draft creates a new requirement to document ambient-boundary breaches within three calendar days...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2843784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FE7349"/>
                </a:solidFill>
                <a:latin typeface="Arial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843784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Check consistency with current site...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" y="3273552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319272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319272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Throughput or Production Limits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3319272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STRU 11 short-term DDGS loadout limit drops from 199.8 tons per hour to 178.8 tons per hour, and...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319272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FE7349"/>
                </a:solidFill>
                <a:latin typeface="Arial"/>
              </a:rP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319272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Verify basis in application and check...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" y="3749040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794760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3794760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3794760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recirculating scrubber water CAM limit for AOS 1 rises from 125.0 gpm to 145.0 gpm based on the...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3794760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FE7349"/>
                </a:solidFill>
                <a:latin typeface="Arial"/>
              </a:rPr>
              <a:t>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3794760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Check consistency with current...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" y="4224528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270248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4270248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Modeling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4270248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issued permit contains explicit PM10 equivalent-or-better-dispersion trigger language that...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270248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Medium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4270248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Confirm with agency whether the EBD...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" y="4700016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4745736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4745736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Performance Testing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0" y="4745736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periodic STRU 14 sulfur-dioxide testing requirement is materially simplified in the draft. The...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4745736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Medium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40" y="4745736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Confirm with agency whether the...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" y="5175503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5221223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54480" y="5221223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Monitoring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6240" y="5221223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draft adds a formal security patrol plan with at least daily patrols for designated...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5221223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Medium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40" y="5221223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Check consistency with current...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1248" y="5650991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5696711"/>
            <a:ext cx="548640" cy="36576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PC-008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54480" y="5696711"/>
            <a:ext cx="2377440" cy="47548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Monitoring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06240" y="5696711"/>
            <a:ext cx="3657600" cy="56692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The draft requires fencing along the effective fence line, quarterly fence inspections with maintenance...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5696711"/>
            <a:ext cx="731520" cy="2743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1">
                <a:solidFill>
                  <a:srgbClr val="0486CC"/>
                </a:solidFill>
                <a:latin typeface="Arial"/>
              </a:rPr>
              <a:t>Medium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5696711"/>
            <a:ext cx="1097280" cy="5029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Confirm whether existing fencing and...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1248" y="6126479"/>
            <a:ext cx="10378440" cy="12700"/>
          </a:xfrm>
          <a:prstGeom prst="rect">
            <a:avLst/>
          </a:prstGeom>
          <a:solidFill>
            <a:srgbClr val="C3D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PC-013 | Emission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5.46.2-5.46.7    New: 5.46.3-5.46.8    Risk: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FE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 | page 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73</a:t>
            </a:r>
          </a:p>
        </p:txBody>
      </p:sp>
      <p:pic>
        <p:nvPicPr>
          <p:cNvPr id="12" name="Picture 11" descr="PC-013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07579"/>
            <a:ext cx="5102352" cy="3229024"/>
          </a:xfrm>
          <a:prstGeom prst="rect">
            <a:avLst/>
          </a:prstGeom>
        </p:spPr>
      </p:pic>
      <p:pic>
        <p:nvPicPr>
          <p:cNvPr id="13" name="Picture 12" descr="PC-013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652309"/>
            <a:ext cx="5102352" cy="273956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numerical PM, PM10, PM2.5, and opacity limits are carried forward, but the draft now states these limits...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draft narrows the explicit applicability of existing emission-limit language and relies more heavily on...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Consider comment on draft and ask the agency to clarify what emission-limit framework...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PC-006 | Ambient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No direct equivalent    New: 5.1.57-5.1.58    Risk: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FE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1627632"/>
            <a:ext cx="4828032" cy="2377440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95728"/>
            <a:ext cx="4480560" cy="4572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800" b="1">
                <a:solidFill>
                  <a:srgbClr val="80959E"/>
                </a:solidFill>
                <a:latin typeface="Arial"/>
              </a:rPr>
              <a:t>No corresponding condition in the issued permit.</a:t>
            </a:r>
          </a:p>
        </p:txBody>
      </p:sp>
      <p:pic>
        <p:nvPicPr>
          <p:cNvPr id="14" name="Picture 13" descr="PC-006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244" y="1261872"/>
            <a:ext cx="4502310" cy="35204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draft adds a General Public Preclusion Plan framework built around an effective fence line and a...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These provisions affect how the source demonstrates non-ambient air and supports NAAQS compliance...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Confirm with agency that Appendix C and the plan requirements reflect existing site...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PC-005 |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5.1.59-5.1.65    New: No direct equivalent    Risk: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FE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 | page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</a:t>
            </a:r>
          </a:p>
        </p:txBody>
      </p:sp>
      <p:pic>
        <p:nvPicPr>
          <p:cNvPr id="12" name="Picture 11" descr="PC-005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26946"/>
            <a:ext cx="5102352" cy="319029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01384" y="1627632"/>
            <a:ext cx="4828032" cy="2377440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2395728"/>
            <a:ext cx="4480560" cy="4572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800" b="1">
                <a:solidFill>
                  <a:srgbClr val="80959E"/>
                </a:solidFill>
                <a:latin typeface="Arial"/>
              </a:rPr>
              <a:t>No corresponding condition in the draft permit.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issued permit includes a full PM10 EBD and refined-modeling framework: submittal content,...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This could reduce clarity on what must be submitted before making changes that affect modeled PM10...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Flag for client discussion and confirm whether the agency intends another enforceable...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PC-007 |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No direct equivalent    New: 5.1.59    Risk: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FE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1627632"/>
            <a:ext cx="4828032" cy="2377440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95728"/>
            <a:ext cx="4480560" cy="4572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800" b="1">
                <a:solidFill>
                  <a:srgbClr val="80959E"/>
                </a:solidFill>
                <a:latin typeface="Arial"/>
              </a:rPr>
              <a:t>No corresponding condition in the issued permit.</a:t>
            </a:r>
          </a:p>
        </p:txBody>
      </p:sp>
      <p:pic>
        <p:nvPicPr>
          <p:cNvPr id="14" name="Picture 13" descr="PC-007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1907603"/>
            <a:ext cx="5102352" cy="222897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draft creates a new requirement to document ambient-boundary breaches within three calendar days and...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This adds a new deviation-reporting pathway tied to non-ambient air boundary control rather than emissions...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Check consistency with current site security practices and flag for client discussion if...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PC-015 | Throughput or Production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5.46.10    New: 5.46.14    Risk: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FE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 | page 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75</a:t>
            </a:r>
          </a:p>
        </p:txBody>
      </p:sp>
      <p:pic>
        <p:nvPicPr>
          <p:cNvPr id="12" name="Picture 11" descr="PC-015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38937"/>
            <a:ext cx="5102352" cy="2366308"/>
          </a:xfrm>
          <a:prstGeom prst="rect">
            <a:avLst/>
          </a:prstGeom>
        </p:spPr>
      </p:pic>
      <p:pic>
        <p:nvPicPr>
          <p:cNvPr id="13" name="Picture 12" descr="PC-015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824852"/>
            <a:ext cx="5102352" cy="239447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STRU 11 short-term DDGS loadout limit drops from 199.8 tons per hour to 178.8 tons per hour, and the...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change reduces the permitted throughput benchmark that supports compliance demonstrations and future...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Verify basis in application and check consistency with current operations before...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PC-023 | 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5.59.15    New: 5.59.15    Risk: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FE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 | page 117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113</a:t>
            </a:r>
          </a:p>
        </p:txBody>
      </p:sp>
      <p:pic>
        <p:nvPicPr>
          <p:cNvPr id="12" name="Picture 11" descr="PC-023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101274"/>
            <a:ext cx="5102352" cy="1841635"/>
          </a:xfrm>
          <a:prstGeom prst="rect">
            <a:avLst/>
          </a:prstGeom>
        </p:spPr>
      </p:pic>
      <p:pic>
        <p:nvPicPr>
          <p:cNvPr id="13" name="Picture 12" descr="PC-023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087188"/>
            <a:ext cx="5102352" cy="186980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recirculating scrubber water CAM limit for AOS 1 rises from 125.0 gpm to 145.0 gpm based on the October...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higher CAM threshold increases the monitoring burden and tightens the margin for avoiding deviations....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Check consistency with current operations and confirm equipment can reliably sustain the...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PC-004 |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5.1.57-5.1.58    New: No direct equivalent    Risk: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 | page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</a:t>
            </a:r>
          </a:p>
        </p:txBody>
      </p:sp>
      <p:pic>
        <p:nvPicPr>
          <p:cNvPr id="12" name="Picture 11" descr="PC-004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27303"/>
            <a:ext cx="5102352" cy="298957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01384" y="1627632"/>
            <a:ext cx="4828032" cy="2377440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2395728"/>
            <a:ext cx="4480560" cy="4572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800" b="1">
                <a:solidFill>
                  <a:srgbClr val="80959E"/>
                </a:solidFill>
                <a:latin typeface="Arial"/>
              </a:rPr>
              <a:t>No corresponding condition in the draft permit.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issued permit contains explicit PM10 equivalent-or-better-dispersion trigger language that distinguishes...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Removing the explicit EBD trigger language can change how future modifications are evaluated for PM10...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Confirm with agency whether the EBD trigger concept is intentionally being retired or...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PC-026 | Performance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6.13.4    New: 6.13.4    Risk: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 | page 149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144</a:t>
            </a:r>
          </a:p>
        </p:txBody>
      </p:sp>
      <p:pic>
        <p:nvPicPr>
          <p:cNvPr id="12" name="Picture 11" descr="PC-026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11124"/>
            <a:ext cx="5102352" cy="2221935"/>
          </a:xfrm>
          <a:prstGeom prst="rect">
            <a:avLst/>
          </a:prstGeom>
        </p:spPr>
      </p:pic>
      <p:pic>
        <p:nvPicPr>
          <p:cNvPr id="13" name="Picture 12" descr="PC-026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011481"/>
            <a:ext cx="5102352" cy="202122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periodic STRU 14 sulfur-dioxide testing requirement is materially simplified in the draft. The issued...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This removes explicit permit language that could have increased periodic SO2 testing frequency and removes a...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Confirm with agency whether the deleted frequency-setting and sulfur-content language...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PC-009 |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No direct equivalent    New: 5.1.62-5.1.63    Risk: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1627632"/>
            <a:ext cx="4828032" cy="2377440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95728"/>
            <a:ext cx="4480560" cy="4572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800" b="1">
                <a:solidFill>
                  <a:srgbClr val="80959E"/>
                </a:solidFill>
                <a:latin typeface="Arial"/>
              </a:rPr>
              <a:t>No corresponding condition in the issued permit.</a:t>
            </a:r>
          </a:p>
        </p:txBody>
      </p:sp>
      <p:pic>
        <p:nvPicPr>
          <p:cNvPr id="14" name="Picture 13" descr="PC-009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1615335"/>
            <a:ext cx="5102352" cy="281351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draft adds a formal security patrol plan with at least daily patrols for designated effective-fence-line...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These provisions increase the monitoring burden and create additional records that may be reviewed during...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Check consistency with current operations and confirm whether this reflects existing...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PC-008 |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No direct equivalent    New: 5.1.60-5.1.61    Risk: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1627632"/>
            <a:ext cx="4828032" cy="2377440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95728"/>
            <a:ext cx="4480560" cy="4572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800" b="1">
                <a:solidFill>
                  <a:srgbClr val="80959E"/>
                </a:solidFill>
                <a:latin typeface="Arial"/>
              </a:rPr>
              <a:t>No corresponding condition in the issued permit.</a:t>
            </a:r>
          </a:p>
        </p:txBody>
      </p:sp>
      <p:pic>
        <p:nvPicPr>
          <p:cNvPr id="14" name="Picture 13" descr="PC-008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601297"/>
            <a:ext cx="5102352" cy="8415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draft requires fencing along the effective fence line, quarterly fence inspections with maintenance...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new terms expand enforceable monitoring and recordkeeping obligations tied to ambient-boundary control....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Confirm whether existing fencing and gate controls already satisfy the draft language or...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412480" cy="310896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200" b="1">
                <a:solidFill>
                  <a:srgbClr val="182836"/>
                </a:solidFill>
                <a:latin typeface="Arial"/>
              </a:rPr>
              <a:t>PC-010 | Fugitive Emissions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85216"/>
            <a:ext cx="68580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100" b="0">
                <a:solidFill>
                  <a:srgbClr val="80959E"/>
                </a:solidFill>
                <a:latin typeface="Arial"/>
              </a:rPr>
              <a:t>Old: No direct equivalent    New: 5.1.64-5.1.65    Risk: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7223760" cy="16459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000" b="0">
                <a:solidFill>
                  <a:srgbClr val="80959E"/>
                </a:solidFill>
                <a:latin typeface="Arial"/>
              </a:rPr>
              <a:t>Application basis: Not identified in application | Major Amendment DDGS BH Maintenance_2025.11.10.pdf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46920" y="274320"/>
            <a:ext cx="1965960" cy="347472"/>
          </a:xfrm>
          <a:prstGeom prst="round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338328"/>
            <a:ext cx="164592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912" y="932688"/>
            <a:ext cx="5532120" cy="41056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Old permit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987552"/>
            <a:ext cx="1828800" cy="201168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1">
                <a:solidFill>
                  <a:srgbClr val="182836"/>
                </a:solidFill>
                <a:latin typeface="Arial"/>
              </a:rPr>
              <a:t>New permit | page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1627632"/>
            <a:ext cx="4828032" cy="2377440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95728"/>
            <a:ext cx="4480560" cy="45720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ctr"/>
            <a:r>
              <a:rPr sz="1800" b="1">
                <a:solidFill>
                  <a:srgbClr val="80959E"/>
                </a:solidFill>
                <a:latin typeface="Arial"/>
              </a:rPr>
              <a:t>No corresponding condition in the issued permit.</a:t>
            </a:r>
          </a:p>
        </p:txBody>
      </p:sp>
      <p:pic>
        <p:nvPicPr>
          <p:cNvPr id="14" name="Picture 13" descr="PC-010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117119"/>
            <a:ext cx="5102352" cy="180994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02920" y="5230368"/>
            <a:ext cx="1113739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draft adds a requirement to clean up spilled commodities as needed to minimize fugitive emissions and...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5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3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3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The spill-cleanup term reinforces fugitive dust control expectations. The nuisance language could broaden...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2" y="5394960"/>
            <a:ext cx="3474720" cy="658368"/>
          </a:xfrm>
          <a:prstGeom prst="roundRect">
            <a:avLst/>
          </a:prstGeom>
          <a:solidFill>
            <a:srgbClr val="C3D2DB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0" y="5486400"/>
            <a:ext cx="868680" cy="146304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200" b="1">
                <a:solidFill>
                  <a:srgbClr val="182836"/>
                </a:solidFill>
                <a:latin typeface="Arial"/>
              </a:rPr>
              <a:t>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0" y="5650992"/>
            <a:ext cx="320040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300" b="0">
                <a:solidFill>
                  <a:srgbClr val="80959E"/>
                </a:solidFill>
                <a:latin typeface="Arial"/>
              </a:rPr>
              <a:t>Confirm with agency whether the nuisance language is standard for this permit form and...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8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029200" cy="41148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2400" b="1">
                <a:solidFill>
                  <a:srgbClr val="182836"/>
                </a:solidFill>
                <a:latin typeface="Arial"/>
              </a:rPr>
              <a:t>Close-Out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728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3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402336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500" b="1">
                <a:solidFill>
                  <a:srgbClr val="182836"/>
                </a:solidFill>
                <a:latin typeface="Arial"/>
              </a:rPr>
              <a:t>Recommended client discussion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4846320" cy="32918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Whether the STRU 11 direct-vent AOS 2 is operationally necessary and fully supported by the application and modeling basis.</a:t>
            </a:r>
          </a:p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Whether MPCA intends the deleted PM10 modeling trigger framework to be replaced by other enforceable documents or internal review practices.</a:t>
            </a:r>
          </a:p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Whether new boundary security, patrol, camera, and breach-reporting obligations match current site controls without added capital or staffing.</a:t>
            </a:r>
          </a:p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Whether revised throughput and CAM thresholds align with current operations and accepted October 30, 2025 test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53312"/>
            <a:ext cx="4023360" cy="256032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500" b="1">
                <a:solidFill>
                  <a:srgbClr val="182836"/>
                </a:solidFill>
                <a:latin typeface="Arial"/>
              </a:rPr>
              <a:t>Files in the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64208"/>
            <a:ext cx="4480560" cy="219456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permit_comparison_analysis.xlsx</a:t>
            </a:r>
          </a:p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permit_comparison_summary.md / .docx</a:t>
            </a:r>
          </a:p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permit_significant_changes_presentation.pptx</a:t>
            </a:r>
          </a:p>
          <a:p>
            <a:pPr>
              <a:spcAft>
                <a:spcPts val="400"/>
              </a:spcAft>
              <a:defRPr sz="1700">
                <a:solidFill>
                  <a:srgbClr val="80959E"/>
                </a:solidFill>
                <a:latin typeface="Arial"/>
              </a:defRPr>
            </a:pPr>
            <a:r>
              <a:t>permit_review_interface.html for QAQC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297680"/>
            <a:ext cx="4572000" cy="731520"/>
          </a:xfrm>
          <a:prstGeom prst="rect">
            <a:avLst/>
          </a:prstGeom>
          <a:noFill/>
        </p:spPr>
        <p:txBody>
          <a:bodyPr wrap="square" lIns="54864" rIns="36576" tIns="36576" bIns="18288">
            <a:spAutoFit/>
          </a:bodyPr>
          <a:lstStyle/>
          <a:p>
            <a:pPr algn="l"/>
            <a:r>
              <a:rPr sz="1600" b="0">
                <a:solidFill>
                  <a:srgbClr val="80959E"/>
                </a:solidFill>
                <a:latin typeface="Arial"/>
              </a:rPr>
              <a:t>Excerpt images are pulled from the mapped permit pages and flagged at the condition location when possible.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