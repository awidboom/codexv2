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7680960" cy="54864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2600" b="1">
                <a:solidFill>
                  <a:srgbClr val="182836"/>
                </a:solidFill>
                <a:latin typeface="Arial"/>
              </a:rPr>
              <a:t>Valero Welcome Permit Draft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7315200" cy="38404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500" b="0">
                <a:solidFill>
                  <a:srgbClr val="80959E"/>
                </a:solidFill>
                <a:latin typeface="Arial"/>
              </a:rPr>
              <a:t>Discussion deck focused on unrequested or unexplained draft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40"/>
            <a:ext cx="2240280" cy="384048"/>
          </a:xfrm>
          <a:prstGeom prst="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64792"/>
            <a:ext cx="1920240" cy="18288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Overall outcome: Significant changes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1097280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697480"/>
            <a:ext cx="24688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697480"/>
            <a:ext cx="109728" cy="868680"/>
          </a:xfrm>
          <a:prstGeom prst="rect">
            <a:avLst/>
          </a:prstGeom>
          <a:solidFill>
            <a:srgbClr val="182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770632"/>
            <a:ext cx="2249424" cy="22860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80959E"/>
                </a:solidFill>
                <a:latin typeface="Arial"/>
              </a:rPr>
              <a:t>Comparison 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3008376"/>
            <a:ext cx="2249424" cy="32918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2400" b="1">
                <a:solidFill>
                  <a:srgbClr val="182836"/>
                </a:solidFill>
                <a:latin typeface="Arial"/>
              </a:rPr>
              <a:t>28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2697480"/>
            <a:ext cx="24688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40" y="2697480"/>
            <a:ext cx="109728" cy="868680"/>
          </a:xfrm>
          <a:prstGeom prst="rect">
            <a:avLst/>
          </a:prstGeom>
          <a:solidFill>
            <a:srgbClr val="FE7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5032" y="2770632"/>
            <a:ext cx="2249424" cy="22860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80959E"/>
                </a:solidFill>
                <a:latin typeface="Arial"/>
              </a:rPr>
              <a:t>Highlight items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3008376"/>
            <a:ext cx="2249424" cy="32918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2400" b="1">
                <a:solidFill>
                  <a:srgbClr val="182836"/>
                </a:solidFill>
                <a:latin typeface="Arial"/>
              </a:rPr>
              <a:t>12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697480"/>
            <a:ext cx="24688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697480"/>
            <a:ext cx="109728" cy="868680"/>
          </a:xfrm>
          <a:prstGeom prst="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2770632"/>
            <a:ext cx="2249424" cy="22860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80959E"/>
                </a:solidFill>
                <a:latin typeface="Arial"/>
              </a:rPr>
              <a:t>High-risk rows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3008376"/>
            <a:ext cx="2249424" cy="32918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2400" b="1">
                <a:solidFill>
                  <a:srgbClr val="182836"/>
                </a:solidFill>
                <a:latin typeface="Arial"/>
              </a:rPr>
              <a:t>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2697480"/>
            <a:ext cx="24688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23960" y="2697480"/>
            <a:ext cx="109728" cy="868680"/>
          </a:xfrm>
          <a:prstGeom prst="rect">
            <a:avLst/>
          </a:prstGeom>
          <a:solidFill>
            <a:srgbClr val="60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88552" y="2770632"/>
            <a:ext cx="2249424" cy="22860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80959E"/>
                </a:solidFill>
                <a:latin typeface="Arial"/>
              </a:rPr>
              <a:t>High-confidence rows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8552" y="3008376"/>
            <a:ext cx="2249424" cy="32918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2400" b="1">
                <a:solidFill>
                  <a:srgbClr val="182836"/>
                </a:solidFill>
                <a:latin typeface="Arial"/>
              </a:rPr>
              <a:t>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886200"/>
            <a:ext cx="36576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500" b="1">
                <a:solidFill>
                  <a:srgbClr val="182836"/>
                </a:solidFill>
                <a:latin typeface="Arial"/>
              </a:rPr>
              <a:t>Primary themes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160520"/>
            <a:ext cx="10058400" cy="137160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80959E"/>
                </a:solidFill>
                <a:latin typeface="Arial"/>
              </a:defRPr>
            </a:pPr>
            <a:r>
              <a:t>Modeling framework shifts from PM10 trigger language to boundary-control and public-access obligations.</a:t>
            </a:r>
          </a:p>
          <a:p>
            <a:pPr>
              <a:spcAft>
                <a:spcPts val="400"/>
              </a:spcAft>
              <a:defRPr sz="1600">
                <a:solidFill>
                  <a:srgbClr val="80959E"/>
                </a:solidFill>
                <a:latin typeface="Arial"/>
              </a:defRPr>
            </a:pPr>
            <a:r>
              <a:t>New ambient-boundary inspection, patrol, and breach-reporting requirements create recurring compliance tasks.</a:t>
            </a:r>
          </a:p>
          <a:p>
            <a:pPr>
              <a:spcAft>
                <a:spcPts val="400"/>
              </a:spcAft>
              <a:defRPr sz="1600">
                <a:solidFill>
                  <a:srgbClr val="80959E"/>
                </a:solidFill>
                <a:latin typeface="Arial"/>
              </a:defRPr>
            </a:pPr>
            <a:r>
              <a:t>Draft permit introduces multiple changes not clearly identified in the major amendment application narrative.</a:t>
            </a:r>
          </a:p>
          <a:p>
            <a:pPr>
              <a:spcAft>
                <a:spcPts val="400"/>
              </a:spcAft>
              <a:defRPr sz="1600">
                <a:solidFill>
                  <a:srgbClr val="80959E"/>
                </a:solidFill>
                <a:latin typeface="Arial"/>
              </a:defRPr>
            </a:pPr>
            <a:r>
              <a:t>Manual QA confirmed workflow false positives such as COMG 2, so this deck follows consultant-validated rows rather than raw workflow summary tabs.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760720" cy="36576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2400" b="1">
                <a:solidFill>
                  <a:srgbClr val="182836"/>
                </a:solidFill>
                <a:latin typeface="Arial"/>
              </a:rPr>
              <a:t>Executive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914400"/>
            <a:ext cx="3749039" cy="5257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3108960" cy="2743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500" b="1">
                <a:solidFill>
                  <a:srgbClr val="182836"/>
                </a:solidFill>
                <a:latin typeface="Arial"/>
              </a:rPr>
              <a:t>Counts by change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44752"/>
            <a:ext cx="3108960" cy="141732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80959E"/>
                </a:solidFill>
                <a:latin typeface="Arial"/>
              </a:defRPr>
            </a:pPr>
            <a:r>
              <a:t>Revision: 14</a:t>
            </a:r>
          </a:p>
          <a:p>
            <a:pPr>
              <a:spcAft>
                <a:spcPts val="400"/>
              </a:spcAft>
              <a:defRPr sz="1600">
                <a:solidFill>
                  <a:srgbClr val="80959E"/>
                </a:solidFill>
                <a:latin typeface="Arial"/>
              </a:defRPr>
            </a:pPr>
            <a:r>
              <a:t>Addition: 7</a:t>
            </a:r>
          </a:p>
          <a:p>
            <a:pPr>
              <a:spcAft>
                <a:spcPts val="400"/>
              </a:spcAft>
              <a:defRPr sz="1600">
                <a:solidFill>
                  <a:srgbClr val="80959E"/>
                </a:solidFill>
                <a:latin typeface="Arial"/>
              </a:defRPr>
            </a:pPr>
            <a:r>
              <a:t>Deletion: 3</a:t>
            </a:r>
          </a:p>
          <a:p>
            <a:pPr>
              <a:spcAft>
                <a:spcPts val="400"/>
              </a:spcAft>
              <a:defRPr sz="1600">
                <a:solidFill>
                  <a:srgbClr val="80959E"/>
                </a:solidFill>
                <a:latin typeface="Arial"/>
              </a:defRPr>
            </a:pPr>
            <a:r>
              <a:t>Possible relocation or renumbering: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3108960" cy="2743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500" b="1">
                <a:solidFill>
                  <a:srgbClr val="182836"/>
                </a:solidFill>
                <a:latin typeface="Arial"/>
              </a:rPr>
              <a:t>Evidence confidence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35808"/>
            <a:ext cx="3108960" cy="64008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80959E"/>
                </a:solidFill>
                <a:latin typeface="Arial"/>
              </a:defRPr>
            </a:pPr>
            <a:r>
              <a:t>High confidence: 25</a:t>
            </a:r>
          </a:p>
          <a:p>
            <a:pPr>
              <a:spcAft>
                <a:spcPts val="400"/>
              </a:spcAft>
              <a:defRPr sz="1500">
                <a:solidFill>
                  <a:srgbClr val="80959E"/>
                </a:solidFill>
                <a:latin typeface="Arial"/>
              </a:defRPr>
            </a:pPr>
            <a:r>
              <a:t>Medium confidence: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3108960" cy="2743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500" b="1">
                <a:solidFill>
                  <a:srgbClr val="182836"/>
                </a:solidFill>
                <a:latin typeface="Arial"/>
              </a:rPr>
              <a:t>Top subject areas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14215"/>
            <a:ext cx="3108960" cy="160020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80959E"/>
                </a:solidFill>
                <a:latin typeface="Arial"/>
              </a:defRPr>
            </a:pPr>
            <a:r>
              <a:t>Performance Testing: 4</a:t>
            </a:r>
          </a:p>
          <a:p>
            <a:pPr>
              <a:spcAft>
                <a:spcPts val="400"/>
              </a:spcAft>
              <a:defRPr sz="1500">
                <a:solidFill>
                  <a:srgbClr val="80959E"/>
                </a:solidFill>
                <a:latin typeface="Arial"/>
              </a:defRPr>
            </a:pPr>
            <a:r>
              <a:t>CAM: 4</a:t>
            </a:r>
          </a:p>
          <a:p>
            <a:pPr>
              <a:spcAft>
                <a:spcPts val="400"/>
              </a:spcAft>
              <a:defRPr sz="1500">
                <a:solidFill>
                  <a:srgbClr val="80959E"/>
                </a:solidFill>
                <a:latin typeface="Arial"/>
              </a:defRPr>
            </a:pPr>
            <a:r>
              <a:t>Modeling: 3</a:t>
            </a:r>
          </a:p>
          <a:p>
            <a:pPr>
              <a:spcAft>
                <a:spcPts val="400"/>
              </a:spcAft>
              <a:defRPr sz="1500">
                <a:solidFill>
                  <a:srgbClr val="80959E"/>
                </a:solidFill>
                <a:latin typeface="Arial"/>
              </a:defRPr>
            </a:pPr>
            <a:r>
              <a:t>Administrative: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914400"/>
            <a:ext cx="7040880" cy="5257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115568"/>
            <a:ext cx="5029200" cy="2743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500" b="1">
                <a:solidFill>
                  <a:srgbClr val="182836"/>
                </a:solidFill>
                <a:latin typeface="Arial"/>
              </a:rPr>
              <a:t>Slides included in this deck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444752"/>
            <a:ext cx="6309360" cy="219456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80959E"/>
                </a:solidFill>
                <a:latin typeface="Arial"/>
              </a:defRPr>
            </a:pPr>
            <a:r>
              <a:t>Permit-wide and modeling changes replacing the existing PM10 framework</a:t>
            </a:r>
          </a:p>
          <a:p>
            <a:pPr>
              <a:spcAft>
                <a:spcPts val="400"/>
              </a:spcAft>
              <a:defRPr sz="1600">
                <a:solidFill>
                  <a:srgbClr val="80959E"/>
                </a:solidFill>
                <a:latin typeface="Arial"/>
              </a:defRPr>
            </a:pPr>
            <a:r>
              <a:t>Ambient boundary, fencing, breach-reporting, patrol, and camera obligations</a:t>
            </a:r>
          </a:p>
          <a:p>
            <a:pPr>
              <a:spcAft>
                <a:spcPts val="400"/>
              </a:spcAft>
              <a:defRPr sz="1600">
                <a:solidFill>
                  <a:srgbClr val="80959E"/>
                </a:solidFill>
                <a:latin typeface="Arial"/>
              </a:defRPr>
            </a:pPr>
            <a:r>
              <a:t>Unrequested STRU 11 language changes, including throughput and AOS applicability issues</a:t>
            </a:r>
          </a:p>
          <a:p>
            <a:pPr>
              <a:spcAft>
                <a:spcPts val="400"/>
              </a:spcAft>
              <a:defRPr sz="1600">
                <a:solidFill>
                  <a:srgbClr val="80959E"/>
                </a:solidFill>
                <a:latin typeface="Arial"/>
              </a:defRPr>
            </a:pPr>
            <a:r>
              <a:t>CAM and testing revisions not clearly requested in the application package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977639"/>
            <a:ext cx="6309360" cy="7315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700" b="0">
                <a:solidFill>
                  <a:srgbClr val="80959E"/>
                </a:solidFill>
                <a:latin typeface="Arial"/>
              </a:rPr>
              <a:t>Use this deck for discussion. Use the spreadsheet for full analysis and line-item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7315200" cy="36576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2400" b="1">
                <a:solidFill>
                  <a:srgbClr val="182836"/>
                </a:solidFill>
                <a:latin typeface="Arial"/>
              </a:rPr>
              <a:t>Significant Change Index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914400"/>
            <a:ext cx="10972800" cy="5394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548640" cy="22860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097280"/>
            <a:ext cx="2377440" cy="22860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Subject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097280"/>
            <a:ext cx="3657600" cy="22860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Core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097280"/>
            <a:ext cx="731520" cy="22860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1097280"/>
            <a:ext cx="1097280" cy="22860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Follow-up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417320"/>
            <a:ext cx="548640" cy="36576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1">
                <a:solidFill>
                  <a:srgbClr val="0486CC"/>
                </a:solidFill>
                <a:latin typeface="Arial"/>
              </a:rPr>
              <a:t>PC-013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417320"/>
            <a:ext cx="2377440" cy="47548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Emission Limits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417320"/>
            <a:ext cx="3657600" cy="56692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The numerical PM, PM10, PM2.5, and opacity limits are carried forward, but the draft now states these...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417320"/>
            <a:ext cx="731520" cy="2743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1">
                <a:solidFill>
                  <a:srgbClr val="FE7349"/>
                </a:solidFill>
                <a:latin typeface="Arial"/>
              </a:rP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1417320"/>
            <a:ext cx="1097280" cy="5029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Consider comment on draft and ask the...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1847088"/>
            <a:ext cx="10378440" cy="12700"/>
          </a:xfrm>
          <a:prstGeom prst="rect">
            <a:avLst/>
          </a:prstGeom>
          <a:solidFill>
            <a:srgbClr val="C3D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892808"/>
            <a:ext cx="548640" cy="36576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1">
                <a:solidFill>
                  <a:srgbClr val="0486CC"/>
                </a:solidFill>
                <a:latin typeface="Arial"/>
              </a:rPr>
              <a:t>PC-006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1892808"/>
            <a:ext cx="2377440" cy="47548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Ambient Conditions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1892808"/>
            <a:ext cx="3657600" cy="56692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The draft adds a General Public Preclusion Plan framework built around an effective fence line and a...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1892808"/>
            <a:ext cx="731520" cy="2743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1">
                <a:solidFill>
                  <a:srgbClr val="FE7349"/>
                </a:solidFill>
                <a:latin typeface="Arial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1892808"/>
            <a:ext cx="1097280" cy="5029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Confirm with agency that Appendix C...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2322576"/>
            <a:ext cx="10378440" cy="12700"/>
          </a:xfrm>
          <a:prstGeom prst="rect">
            <a:avLst/>
          </a:prstGeom>
          <a:solidFill>
            <a:srgbClr val="C3D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368296"/>
            <a:ext cx="548640" cy="36576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1">
                <a:solidFill>
                  <a:srgbClr val="0486CC"/>
                </a:solidFill>
                <a:latin typeface="Arial"/>
              </a:rPr>
              <a:t>PC-005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2368296"/>
            <a:ext cx="2377440" cy="47548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Modeling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2368296"/>
            <a:ext cx="3657600" cy="56692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The issued permit includes a full PM10 EBD and refined-modeling framework: submittal content,...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368296"/>
            <a:ext cx="731520" cy="2743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1">
                <a:solidFill>
                  <a:srgbClr val="FE7349"/>
                </a:solidFill>
                <a:latin typeface="Arial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2368296"/>
            <a:ext cx="1097280" cy="5029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Flag for client discussion and confirm...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2798064"/>
            <a:ext cx="10378440" cy="12700"/>
          </a:xfrm>
          <a:prstGeom prst="rect">
            <a:avLst/>
          </a:prstGeom>
          <a:solidFill>
            <a:srgbClr val="C3D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2843784"/>
            <a:ext cx="548640" cy="36576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1">
                <a:solidFill>
                  <a:srgbClr val="0486CC"/>
                </a:solidFill>
                <a:latin typeface="Arial"/>
              </a:rPr>
              <a:t>PC-028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2843784"/>
            <a:ext cx="2377440" cy="47548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Modeling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2843784"/>
            <a:ext cx="3657600" cy="56692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Beyond the PM10 provisions, the issued permit also contains a separate NOx and PM2.5...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2843784"/>
            <a:ext cx="731520" cy="2743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1">
                <a:solidFill>
                  <a:srgbClr val="FE7349"/>
                </a:solidFill>
                <a:latin typeface="Arial"/>
              </a:rPr>
              <a:t>High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2843784"/>
            <a:ext cx="1097280" cy="5029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Flag for client discussion and confirm...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" y="3273552"/>
            <a:ext cx="10378440" cy="12700"/>
          </a:xfrm>
          <a:prstGeom prst="rect">
            <a:avLst/>
          </a:prstGeom>
          <a:solidFill>
            <a:srgbClr val="C3D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3319272"/>
            <a:ext cx="548640" cy="36576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1">
                <a:solidFill>
                  <a:srgbClr val="0486CC"/>
                </a:solidFill>
                <a:latin typeface="Arial"/>
              </a:rPr>
              <a:t>PC-007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319272"/>
            <a:ext cx="2377440" cy="47548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Reporting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3319272"/>
            <a:ext cx="3657600" cy="56692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The draft creates a new requirement to document ambient-boundary breaches within three calendar days...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3319272"/>
            <a:ext cx="731520" cy="2743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1">
                <a:solidFill>
                  <a:srgbClr val="FE7349"/>
                </a:solidFill>
                <a:latin typeface="Arial"/>
              </a:rPr>
              <a:t>High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3319272"/>
            <a:ext cx="1097280" cy="5029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Check consistency with current site...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1248" y="3749040"/>
            <a:ext cx="10378440" cy="12700"/>
          </a:xfrm>
          <a:prstGeom prst="rect">
            <a:avLst/>
          </a:prstGeom>
          <a:solidFill>
            <a:srgbClr val="C3D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3794760"/>
            <a:ext cx="548640" cy="36576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1">
                <a:solidFill>
                  <a:srgbClr val="0486CC"/>
                </a:solidFill>
                <a:latin typeface="Arial"/>
              </a:rPr>
              <a:t>PC-015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54480" y="3794760"/>
            <a:ext cx="2377440" cy="47548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Throughput or Production Limits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06240" y="3794760"/>
            <a:ext cx="3657600" cy="56692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The STRU 11 short-term DDGS loadout limit drops from 199.8 tons per hour to 178.8 tons per hour, and...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3794760"/>
            <a:ext cx="731520" cy="2743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1">
                <a:solidFill>
                  <a:srgbClr val="FE7349"/>
                </a:solidFill>
                <a:latin typeface="Arial"/>
              </a:rPr>
              <a:t>High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0" y="3794760"/>
            <a:ext cx="1097280" cy="5029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Verify basis in application and check...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1248" y="4224528"/>
            <a:ext cx="10378440" cy="12700"/>
          </a:xfrm>
          <a:prstGeom prst="rect">
            <a:avLst/>
          </a:prstGeom>
          <a:solidFill>
            <a:srgbClr val="C3D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4270248"/>
            <a:ext cx="548640" cy="36576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1">
                <a:solidFill>
                  <a:srgbClr val="0486CC"/>
                </a:solidFill>
                <a:latin typeface="Arial"/>
              </a:rPr>
              <a:t>PC-023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54480" y="4270248"/>
            <a:ext cx="2377440" cy="47548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CAM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0" y="4270248"/>
            <a:ext cx="3657600" cy="56692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The recirculating scrubber water CAM limit for AOS 1 rises from 125.0 gpm to 145.0 gpm based on the...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79" y="4270248"/>
            <a:ext cx="731520" cy="2743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1">
                <a:solidFill>
                  <a:srgbClr val="FE7349"/>
                </a:solidFill>
                <a:latin typeface="Arial"/>
              </a:rPr>
              <a:t>High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49840" y="4270248"/>
            <a:ext cx="1097280" cy="5029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Check consistency with current...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1248" y="4700016"/>
            <a:ext cx="10378440" cy="12700"/>
          </a:xfrm>
          <a:prstGeom prst="rect">
            <a:avLst/>
          </a:prstGeom>
          <a:solidFill>
            <a:srgbClr val="C3D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4745736"/>
            <a:ext cx="548640" cy="36576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1">
                <a:solidFill>
                  <a:srgbClr val="0486CC"/>
                </a:solidFill>
                <a:latin typeface="Arial"/>
              </a:rPr>
              <a:t>PC-004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54480" y="4745736"/>
            <a:ext cx="2377440" cy="47548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Modeling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06240" y="4745736"/>
            <a:ext cx="3657600" cy="56692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The issued permit contains explicit PM10 equivalent-or-better-dispersion trigger language that...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55279" y="4745736"/>
            <a:ext cx="731520" cy="2743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1">
                <a:solidFill>
                  <a:srgbClr val="0486CC"/>
                </a:solidFill>
                <a:latin typeface="Arial"/>
              </a:rPr>
              <a:t>Medium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49840" y="4745736"/>
            <a:ext cx="1097280" cy="5029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Confirm with agency whether the EBD...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1248" y="5175503"/>
            <a:ext cx="10378440" cy="12700"/>
          </a:xfrm>
          <a:prstGeom prst="rect">
            <a:avLst/>
          </a:prstGeom>
          <a:solidFill>
            <a:srgbClr val="C3D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" y="5221223"/>
            <a:ext cx="548640" cy="36576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1">
                <a:solidFill>
                  <a:srgbClr val="0486CC"/>
                </a:solidFill>
                <a:latin typeface="Arial"/>
              </a:rPr>
              <a:t>PC-026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54480" y="5221223"/>
            <a:ext cx="2377440" cy="47548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Performance Testing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06240" y="5221223"/>
            <a:ext cx="3657600" cy="56692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The periodic STRU 14 sulfur-dioxide testing requirement is materially simplified in the draft. The...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55279" y="5221223"/>
            <a:ext cx="731520" cy="2743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1">
                <a:solidFill>
                  <a:srgbClr val="0486CC"/>
                </a:solidFill>
                <a:latin typeface="Arial"/>
              </a:rPr>
              <a:t>Medium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49840" y="5221223"/>
            <a:ext cx="1097280" cy="5029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Confirm with agency whether the...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41248" y="5650991"/>
            <a:ext cx="10378440" cy="12700"/>
          </a:xfrm>
          <a:prstGeom prst="rect">
            <a:avLst/>
          </a:prstGeom>
          <a:solidFill>
            <a:srgbClr val="C3D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2960" y="5696711"/>
            <a:ext cx="548640" cy="36576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1">
                <a:solidFill>
                  <a:srgbClr val="0486CC"/>
                </a:solidFill>
                <a:latin typeface="Arial"/>
              </a:rPr>
              <a:t>PC-009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54480" y="5696711"/>
            <a:ext cx="2377440" cy="47548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Monitoring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06240" y="5696711"/>
            <a:ext cx="3657600" cy="56692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The draft adds a formal security patrol plan with at least daily patrols for designated...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55279" y="5696711"/>
            <a:ext cx="731520" cy="2743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1">
                <a:solidFill>
                  <a:srgbClr val="0486CC"/>
                </a:solidFill>
                <a:latin typeface="Arial"/>
              </a:rPr>
              <a:t>Medium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49840" y="5696711"/>
            <a:ext cx="1097280" cy="5029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Check consistency with current...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41248" y="6126479"/>
            <a:ext cx="10378440" cy="12700"/>
          </a:xfrm>
          <a:prstGeom prst="rect">
            <a:avLst/>
          </a:prstGeom>
          <a:solidFill>
            <a:srgbClr val="C3D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412480" cy="310896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2200" b="1">
                <a:solidFill>
                  <a:srgbClr val="182836"/>
                </a:solidFill>
                <a:latin typeface="Arial"/>
              </a:rPr>
              <a:t>PC-013 | Emission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85216"/>
            <a:ext cx="68580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Old: 5.46.2-5.46.7    New: 5.46.3-5.46.8    Risk: High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7223760" cy="16459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000" b="0">
                <a:solidFill>
                  <a:srgbClr val="80959E"/>
                </a:solidFill>
                <a:latin typeface="Arial"/>
              </a:rPr>
              <a:t>Application basis: Not identified in application | Major Amendment DDGS BH Maintenance_2025.11.10.pdf; Valero Welcome Minor Amendment 7277_2025.02.27.pdf; Valero Welcome Air Permit Minor Mod - DDGS Drag Replacement.pdf; Valero Welcome Air Permit Minor Mod - TO Inspection.pdf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749808"/>
            <a:ext cx="1828800" cy="16459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r"/>
            <a:r>
              <a:rPr sz="1000" b="0">
                <a:solidFill>
                  <a:srgbClr val="80959E"/>
                </a:solidFill>
                <a:latin typeface="Arial"/>
              </a:rPr>
              <a:t>Evidence: High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274320"/>
            <a:ext cx="1965960" cy="347472"/>
          </a:xfrm>
          <a:prstGeom prst="roundRect">
            <a:avLst/>
          </a:prstGeom>
          <a:solidFill>
            <a:srgbClr val="FE7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338328"/>
            <a:ext cx="164592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Highlight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53912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Old permit | page 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New permit | page 73</a:t>
            </a:r>
          </a:p>
        </p:txBody>
      </p:sp>
      <p:pic>
        <p:nvPicPr>
          <p:cNvPr id="13" name="Picture 12" descr="PC-013_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07579"/>
            <a:ext cx="5102352" cy="3229024"/>
          </a:xfrm>
          <a:prstGeom prst="rect">
            <a:avLst/>
          </a:prstGeom>
        </p:spPr>
      </p:pic>
      <p:pic>
        <p:nvPicPr>
          <p:cNvPr id="14" name="Picture 13" descr="PC-013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652309"/>
            <a:ext cx="5102352" cy="2739565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02920" y="5230368"/>
            <a:ext cx="11137392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8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The numerical PM, PM10, PM2.5, and opacity limits are carried forward, but the draft now states these limits...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5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5423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Why it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3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The draft narrows the explicit applicability of existing emission-limit language and relies more heavily on...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2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0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0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Consider comment on draft and ask the agency to clarify what emission-limit framework...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412480" cy="310896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2200" b="1">
                <a:solidFill>
                  <a:srgbClr val="182836"/>
                </a:solidFill>
                <a:latin typeface="Arial"/>
              </a:rPr>
              <a:t>PC-006 | Ambient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85216"/>
            <a:ext cx="68580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Old: No direct equivalent    New: 5.1.57-5.1.58    Risk: High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7223760" cy="16459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000" b="0">
                <a:solidFill>
                  <a:srgbClr val="80959E"/>
                </a:solidFill>
                <a:latin typeface="Arial"/>
              </a:rPr>
              <a:t>Application basis: Not identified in application | Major Amendment DDGS BH Maintenance_2025.11.10.pdf; Valero Welcome Minor Amendment 7277_2025.02.27.pdf; Valero Welcome Air Permit Minor Mod - DDGS Drag Replacement.pdf; Valero Welcome Air Permit Minor Mod - TO Inspection.pdf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749808"/>
            <a:ext cx="1828800" cy="16459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r"/>
            <a:r>
              <a:rPr sz="1000" b="0">
                <a:solidFill>
                  <a:srgbClr val="80959E"/>
                </a:solidFill>
                <a:latin typeface="Arial"/>
              </a:rPr>
              <a:t>Evidence: High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274320"/>
            <a:ext cx="1965960" cy="347472"/>
          </a:xfrm>
          <a:prstGeom prst="roundRect">
            <a:avLst/>
          </a:prstGeom>
          <a:solidFill>
            <a:srgbClr val="FE7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338328"/>
            <a:ext cx="164592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Highlight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53912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Old permit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New permit | page 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" y="1627632"/>
            <a:ext cx="4828032" cy="2377440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395728"/>
            <a:ext cx="4480560" cy="45720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ctr"/>
            <a:r>
              <a:rPr sz="1800" b="1">
                <a:solidFill>
                  <a:srgbClr val="80959E"/>
                </a:solidFill>
                <a:latin typeface="Arial"/>
              </a:rPr>
              <a:t>No corresponding condition in the issued permit.</a:t>
            </a:r>
          </a:p>
        </p:txBody>
      </p:sp>
      <p:pic>
        <p:nvPicPr>
          <p:cNvPr id="15" name="Picture 14" descr="PC-006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4244" y="1261872"/>
            <a:ext cx="4502310" cy="352044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5230368"/>
            <a:ext cx="11137392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The draft adds a General Public Preclusion Plan framework built around an effective fence line and a...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25695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5423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Why it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5423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These provisions affect how the source demonstrates non-ambient air and supports NAAQS compliance...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1582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0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0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Confirm with agency that Appendix C and the plan requirements reflect existing site...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412480" cy="310896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2200" b="1">
                <a:solidFill>
                  <a:srgbClr val="182836"/>
                </a:solidFill>
                <a:latin typeface="Arial"/>
              </a:rPr>
              <a:t>PC-005 |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85216"/>
            <a:ext cx="68580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Old: 5.1.59-5.1.65    New: No direct equivalent    Risk: High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7223760" cy="16459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000" b="0">
                <a:solidFill>
                  <a:srgbClr val="80959E"/>
                </a:solidFill>
                <a:latin typeface="Arial"/>
              </a:rPr>
              <a:t>Application basis: Not identified in application | Major Amendment DDGS BH Maintenance_2025.11.10.pdf; Valero Welcome Minor Amendment 7277_2025.02.27.pdf; Valero Welcome Air Permit Minor Mod - DDGS Drag Replacement.pdf; Valero Welcome Air Permit Minor Mod - TO Inspection.pdf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749808"/>
            <a:ext cx="1828800" cy="16459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r"/>
            <a:r>
              <a:rPr sz="1000" b="0">
                <a:solidFill>
                  <a:srgbClr val="80959E"/>
                </a:solidFill>
                <a:latin typeface="Arial"/>
              </a:rPr>
              <a:t>Evidence: High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274320"/>
            <a:ext cx="1965960" cy="347472"/>
          </a:xfrm>
          <a:prstGeom prst="roundRect">
            <a:avLst/>
          </a:prstGeom>
          <a:solidFill>
            <a:srgbClr val="FE7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338328"/>
            <a:ext cx="164592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Highlight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53912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Old permit | page 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New permit</a:t>
            </a:r>
          </a:p>
        </p:txBody>
      </p:sp>
      <p:pic>
        <p:nvPicPr>
          <p:cNvPr id="13" name="Picture 12" descr="PC-005_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26946"/>
            <a:ext cx="5102352" cy="319029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501384" y="1627632"/>
            <a:ext cx="4828032" cy="2377440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2552" y="2395728"/>
            <a:ext cx="4480560" cy="45720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ctr"/>
            <a:r>
              <a:rPr sz="1800" b="1">
                <a:solidFill>
                  <a:srgbClr val="80959E"/>
                </a:solidFill>
                <a:latin typeface="Arial"/>
              </a:rPr>
              <a:t>No corresponding condition in the draft permit.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230368"/>
            <a:ext cx="11137392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The issued permit includes a full PM10 EBD and refined-modeling framework: submittal content,...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25695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5423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Why it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5423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This could reduce clarity on what must be submitted before making changes that affect modeled PM10...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1582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0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0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Flag for client discussion and confirm whether the agency intends another enforceable...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412480" cy="310896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2200" b="1">
                <a:solidFill>
                  <a:srgbClr val="182836"/>
                </a:solidFill>
                <a:latin typeface="Arial"/>
              </a:rPr>
              <a:t>PC-028 |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85216"/>
            <a:ext cx="68580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Old: 5.1.67-5.1.77    New: No direct equivalent    Risk: High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7223760" cy="16459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000" b="0">
                <a:solidFill>
                  <a:srgbClr val="80959E"/>
                </a:solidFill>
                <a:latin typeface="Arial"/>
              </a:rPr>
              <a:t>Application basis: Not identified in application | Major Amendment DDGS BH Maintenance_2025.11.10.pdf; Valero Welcome Minor Amendment 7277_2025.02.27.pdf; Valero Welcome Air Permit Minor Mod - DDGS Drag Replacement.pdf; Valero Welcome Air Permit Minor Mod - TO Inspection.pdf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749808"/>
            <a:ext cx="1828800" cy="16459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r"/>
            <a:r>
              <a:rPr sz="1000" b="0">
                <a:solidFill>
                  <a:srgbClr val="80959E"/>
                </a:solidFill>
                <a:latin typeface="Arial"/>
              </a:rPr>
              <a:t>Evidence: High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274320"/>
            <a:ext cx="1965960" cy="347472"/>
          </a:xfrm>
          <a:prstGeom prst="roundRect">
            <a:avLst/>
          </a:prstGeom>
          <a:solidFill>
            <a:srgbClr val="FE7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338328"/>
            <a:ext cx="164592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Highlight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53912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Old permit | page 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New permit</a:t>
            </a:r>
          </a:p>
        </p:txBody>
      </p:sp>
      <p:pic>
        <p:nvPicPr>
          <p:cNvPr id="13" name="Picture 12" descr="PC-028_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523782"/>
            <a:ext cx="5102352" cy="2996619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501384" y="1627632"/>
            <a:ext cx="4828032" cy="2377440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2552" y="2395728"/>
            <a:ext cx="4480560" cy="45720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ctr"/>
            <a:r>
              <a:rPr sz="1800" b="1">
                <a:solidFill>
                  <a:srgbClr val="80959E"/>
                </a:solidFill>
                <a:latin typeface="Arial"/>
              </a:rPr>
              <a:t>No corresponding condition in the draft permit.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230368"/>
            <a:ext cx="11137392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Beyond the PM10 provisions, the issued permit also contains a separate NOx and PM2.5...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25695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5423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Why it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5423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Deleting the NOx/PM2.5 modeling framework further reduces the amount of explicit permit text governing when...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1582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0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0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Flag for client discussion and confirm whether MPCA intentionally removed the NOx/PM2.5...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412480" cy="310896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2200" b="1">
                <a:solidFill>
                  <a:srgbClr val="182836"/>
                </a:solidFill>
                <a:latin typeface="Arial"/>
              </a:rPr>
              <a:t>PC-007 |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85216"/>
            <a:ext cx="68580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Old: No direct equivalent    New: 5.1.59    Risk: High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7223760" cy="16459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000" b="0">
                <a:solidFill>
                  <a:srgbClr val="80959E"/>
                </a:solidFill>
                <a:latin typeface="Arial"/>
              </a:rPr>
              <a:t>Application basis: Not identified in application | Major Amendment DDGS BH Maintenance_2025.11.10.pdf; Valero Welcome Minor Amendment 7277_2025.02.27.pdf; Valero Welcome Air Permit Minor Mod - DDGS Drag Replacement.pdf; Valero Welcome Air Permit Minor Mod - TO Inspection.pdf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749808"/>
            <a:ext cx="1828800" cy="16459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r"/>
            <a:r>
              <a:rPr sz="1000" b="0">
                <a:solidFill>
                  <a:srgbClr val="80959E"/>
                </a:solidFill>
                <a:latin typeface="Arial"/>
              </a:rPr>
              <a:t>Evidence: High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274320"/>
            <a:ext cx="1965960" cy="347472"/>
          </a:xfrm>
          <a:prstGeom prst="roundRect">
            <a:avLst/>
          </a:prstGeom>
          <a:solidFill>
            <a:srgbClr val="FE7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338328"/>
            <a:ext cx="164592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Highlight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53912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Old permit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New permit | page 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" y="1627632"/>
            <a:ext cx="4828032" cy="2377440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395728"/>
            <a:ext cx="4480560" cy="45720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ctr"/>
            <a:r>
              <a:rPr sz="1800" b="1">
                <a:solidFill>
                  <a:srgbClr val="80959E"/>
                </a:solidFill>
                <a:latin typeface="Arial"/>
              </a:rPr>
              <a:t>No corresponding condition in the issued permit.</a:t>
            </a:r>
          </a:p>
        </p:txBody>
      </p:sp>
      <p:pic>
        <p:nvPicPr>
          <p:cNvPr id="15" name="Picture 14" descr="PC-007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1907603"/>
            <a:ext cx="5102352" cy="2228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5230368"/>
            <a:ext cx="11137392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The draft creates a new requirement to document ambient-boundary breaches within three calendar days and...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25695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5423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Why it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5423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This adds a new deviation-reporting pathway tied to non-ambient air boundary control rather than emissions...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1582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0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0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Check consistency with current site security practices and flag for client discussion if...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412480" cy="310896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2200" b="1">
                <a:solidFill>
                  <a:srgbClr val="182836"/>
                </a:solidFill>
                <a:latin typeface="Arial"/>
              </a:rPr>
              <a:t>PC-015 | Throughput or Production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85216"/>
            <a:ext cx="68580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Old: 5.46.10    New: 5.46.14    Risk: High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7223760" cy="16459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000" b="0">
                <a:solidFill>
                  <a:srgbClr val="80959E"/>
                </a:solidFill>
                <a:latin typeface="Arial"/>
              </a:rPr>
              <a:t>Application basis: Not identified in application | Major Amendment DDGS BH Maintenance_2025.11.10.pdf; Valero Welcome Minor Amendment 7277_2025.02.27.pdf; Valero Welcome Air Permit Minor Mod - DDGS Drag Replacement.pdf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749808"/>
            <a:ext cx="1828800" cy="16459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r"/>
            <a:r>
              <a:rPr sz="1000" b="0">
                <a:solidFill>
                  <a:srgbClr val="80959E"/>
                </a:solidFill>
                <a:latin typeface="Arial"/>
              </a:rPr>
              <a:t>Evidence: High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274320"/>
            <a:ext cx="1965960" cy="347472"/>
          </a:xfrm>
          <a:prstGeom prst="roundRect">
            <a:avLst/>
          </a:prstGeom>
          <a:solidFill>
            <a:srgbClr val="FE7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338328"/>
            <a:ext cx="164592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Highlight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53912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Old permit | page 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New permit | page 75</a:t>
            </a:r>
          </a:p>
        </p:txBody>
      </p:sp>
      <p:pic>
        <p:nvPicPr>
          <p:cNvPr id="13" name="Picture 12" descr="PC-015_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38937"/>
            <a:ext cx="5102352" cy="2366308"/>
          </a:xfrm>
          <a:prstGeom prst="rect">
            <a:avLst/>
          </a:prstGeom>
        </p:spPr>
      </p:pic>
      <p:pic>
        <p:nvPicPr>
          <p:cNvPr id="14" name="Picture 13" descr="PC-015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824852"/>
            <a:ext cx="5102352" cy="239447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02920" y="5230368"/>
            <a:ext cx="11137392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8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The STRU 11 short-term DDGS loadout limit drops from 199.8 tons per hour to 178.8 tons per hour, and the...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5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5423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Why it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3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The change reduces the permitted throughput benchmark that supports compliance demonstrations and future...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2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0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0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Verify basis in application and check consistency with current operations before...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412480" cy="310896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2200" b="1">
                <a:solidFill>
                  <a:srgbClr val="182836"/>
                </a:solidFill>
                <a:latin typeface="Arial"/>
              </a:rPr>
              <a:t>PC-023 | CAM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85216"/>
            <a:ext cx="68580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Old: 5.59.15    New: 5.59.15    Risk: High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7223760" cy="16459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000" b="0">
                <a:solidFill>
                  <a:srgbClr val="80959E"/>
                </a:solidFill>
                <a:latin typeface="Arial"/>
              </a:rPr>
              <a:t>Application basis: Not identified in application | Major Amendment DDGS BH Maintenance_2025.11.10.pdf; Valero Welcome Minor Amendment 7277_2025.02.27.pdf; Valero Welcome Air Permit Minor Mod - DDGS Drag Replacement.pdf; Valero Welcome Air Permit Minor Mod - TO Inspection.pdf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749808"/>
            <a:ext cx="1828800" cy="16459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r"/>
            <a:r>
              <a:rPr sz="1000" b="0">
                <a:solidFill>
                  <a:srgbClr val="80959E"/>
                </a:solidFill>
                <a:latin typeface="Arial"/>
              </a:rPr>
              <a:t>Evidence: High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274320"/>
            <a:ext cx="1965960" cy="347472"/>
          </a:xfrm>
          <a:prstGeom prst="roundRect">
            <a:avLst/>
          </a:prstGeom>
          <a:solidFill>
            <a:srgbClr val="FE7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338328"/>
            <a:ext cx="164592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Highlight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53912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Old permit | page 117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New permit | page 113</a:t>
            </a:r>
          </a:p>
        </p:txBody>
      </p:sp>
      <p:pic>
        <p:nvPicPr>
          <p:cNvPr id="13" name="Picture 12" descr="PC-023_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101274"/>
            <a:ext cx="5102352" cy="1841635"/>
          </a:xfrm>
          <a:prstGeom prst="rect">
            <a:avLst/>
          </a:prstGeom>
        </p:spPr>
      </p:pic>
      <p:pic>
        <p:nvPicPr>
          <p:cNvPr id="14" name="Picture 13" descr="PC-023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2087188"/>
            <a:ext cx="5102352" cy="186980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02920" y="5230368"/>
            <a:ext cx="11137392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8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The recirculating scrubber water CAM limit for AOS 1 rises from 125.0 gpm to 145.0 gpm based on the October...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5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5423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Why it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3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The higher CAM threshold increases the monitoring burden and tightens the margin for avoiding deviations....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2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0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0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Check consistency with current operations and confirm equipment can reliably sustain the...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412480" cy="310896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2200" b="1">
                <a:solidFill>
                  <a:srgbClr val="182836"/>
                </a:solidFill>
                <a:latin typeface="Arial"/>
              </a:rPr>
              <a:t>PC-004 |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85216"/>
            <a:ext cx="68580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Old: 5.1.57-5.1.58    New: No direct equivalent    Risk: 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7223760" cy="16459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000" b="0">
                <a:solidFill>
                  <a:srgbClr val="80959E"/>
                </a:solidFill>
                <a:latin typeface="Arial"/>
              </a:rPr>
              <a:t>Application basis: Not identified in application | Major Amendment DDGS BH Maintenance_2025.11.10.pdf; Valero Welcome Minor Amendment 7277_2025.02.27.pdf; Valero Welcome Air Permit Minor Mod - DDGS Drag Replacement.pdf; Valero Welcome Air Permit Minor Mod - TO Inspection.pdf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749808"/>
            <a:ext cx="1828800" cy="16459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r"/>
            <a:r>
              <a:rPr sz="1000" b="0">
                <a:solidFill>
                  <a:srgbClr val="80959E"/>
                </a:solidFill>
                <a:latin typeface="Arial"/>
              </a:rPr>
              <a:t>Evidence: High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274320"/>
            <a:ext cx="1965960" cy="347472"/>
          </a:xfrm>
          <a:prstGeom prst="round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338328"/>
            <a:ext cx="164592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Highlight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53912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Old permit | page 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New permit</a:t>
            </a:r>
          </a:p>
        </p:txBody>
      </p:sp>
      <p:pic>
        <p:nvPicPr>
          <p:cNvPr id="13" name="Picture 12" descr="PC-004_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527303"/>
            <a:ext cx="5102352" cy="298957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501384" y="1627632"/>
            <a:ext cx="4828032" cy="2377440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2552" y="2395728"/>
            <a:ext cx="4480560" cy="45720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ctr"/>
            <a:r>
              <a:rPr sz="1800" b="1">
                <a:solidFill>
                  <a:srgbClr val="80959E"/>
                </a:solidFill>
                <a:latin typeface="Arial"/>
              </a:rPr>
              <a:t>No corresponding condition in the draft permit.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230368"/>
            <a:ext cx="11137392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The issued permit contains explicit PM10 equivalent-or-better-dispersion trigger language that distinguishes...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25695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5423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Why it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5423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Removing the explicit EBD trigger language can change how future modifications are evaluated for PM10...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1582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0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0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Confirm with agency whether the EBD trigger concept is intentionally being retired or...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412480" cy="310896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2200" b="1">
                <a:solidFill>
                  <a:srgbClr val="182836"/>
                </a:solidFill>
                <a:latin typeface="Arial"/>
              </a:rPr>
              <a:t>PC-026 | Performance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85216"/>
            <a:ext cx="68580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Old: 6.13.4    New: 6.13.4    Risk: 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7223760" cy="16459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000" b="0">
                <a:solidFill>
                  <a:srgbClr val="80959E"/>
                </a:solidFill>
                <a:latin typeface="Arial"/>
              </a:rPr>
              <a:t>Application basis: Not identified in application | Major Amendment DDGS BH Maintenance_2025.11.10.pdf; Valero Welcome Minor Amendment 7277_2025.02.27.pdf; Valero Welcome Air Permit Minor Mod - DDGS Drag Replacement.pdf; Valero Welcome Air Permit Minor Mod - TO Inspection.pdf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749808"/>
            <a:ext cx="1828800" cy="16459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r"/>
            <a:r>
              <a:rPr sz="1000" b="0">
                <a:solidFill>
                  <a:srgbClr val="80959E"/>
                </a:solidFill>
                <a:latin typeface="Arial"/>
              </a:rPr>
              <a:t>Evidence: High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274320"/>
            <a:ext cx="1965960" cy="347472"/>
          </a:xfrm>
          <a:prstGeom prst="round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338328"/>
            <a:ext cx="164592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Highlight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53912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Old permit | page 149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New permit | page 144</a:t>
            </a:r>
          </a:p>
        </p:txBody>
      </p:sp>
      <p:pic>
        <p:nvPicPr>
          <p:cNvPr id="13" name="Picture 12" descr="PC-026_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911124"/>
            <a:ext cx="5102352" cy="2221935"/>
          </a:xfrm>
          <a:prstGeom prst="rect">
            <a:avLst/>
          </a:prstGeom>
        </p:spPr>
      </p:pic>
      <p:pic>
        <p:nvPicPr>
          <p:cNvPr id="14" name="Picture 13" descr="PC-026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2011481"/>
            <a:ext cx="5102352" cy="2021221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02920" y="5230368"/>
            <a:ext cx="11137392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8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The periodic STRU 14 sulfur-dioxide testing requirement is materially simplified in the draft. The issued...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5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5423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Why it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3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This removes explicit permit language that could have increased periodic SO2 testing frequency and removes a...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2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0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0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Confirm with agency whether the deleted frequency-setting and sulfur-content language...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412480" cy="310896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2200" b="1">
                <a:solidFill>
                  <a:srgbClr val="182836"/>
                </a:solidFill>
                <a:latin typeface="Arial"/>
              </a:rPr>
              <a:t>PC-009 |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85216"/>
            <a:ext cx="68580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Old: No direct equivalent    New: 5.1.62-5.1.63    Risk: 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7223760" cy="16459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000" b="0">
                <a:solidFill>
                  <a:srgbClr val="80959E"/>
                </a:solidFill>
                <a:latin typeface="Arial"/>
              </a:rPr>
              <a:t>Application basis: Not identified in application | Major Amendment DDGS BH Maintenance_2025.11.10.pdf; Valero Welcome Minor Amendment 7277_2025.02.27.pdf; Valero Welcome Air Permit Minor Mod - DDGS Drag Replacement.pdf; Valero Welcome Air Permit Minor Mod - TO Inspection.pdf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749808"/>
            <a:ext cx="1828800" cy="16459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r"/>
            <a:r>
              <a:rPr sz="1000" b="0">
                <a:solidFill>
                  <a:srgbClr val="80959E"/>
                </a:solidFill>
                <a:latin typeface="Arial"/>
              </a:rPr>
              <a:t>Evidence: High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274320"/>
            <a:ext cx="1965960" cy="347472"/>
          </a:xfrm>
          <a:prstGeom prst="round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338328"/>
            <a:ext cx="164592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Highlight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53912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Old permit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New permit | page 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" y="1627632"/>
            <a:ext cx="4828032" cy="2377440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395728"/>
            <a:ext cx="4480560" cy="45720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ctr"/>
            <a:r>
              <a:rPr sz="1800" b="1">
                <a:solidFill>
                  <a:srgbClr val="80959E"/>
                </a:solidFill>
                <a:latin typeface="Arial"/>
              </a:rPr>
              <a:t>No corresponding condition in the issued permit.</a:t>
            </a:r>
          </a:p>
        </p:txBody>
      </p:sp>
      <p:pic>
        <p:nvPicPr>
          <p:cNvPr id="15" name="Picture 14" descr="PC-009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1615335"/>
            <a:ext cx="5102352" cy="281351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5230368"/>
            <a:ext cx="11137392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The draft adds a formal security patrol plan with at least daily patrols for designated effective-fence-line...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25695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5423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Why it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5423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These provisions increase the monitoring burden and create additional records that may be reviewed during...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1582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0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0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Check consistency with current operations and confirm whether this reflects existing...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412480" cy="310896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2200" b="1">
                <a:solidFill>
                  <a:srgbClr val="182836"/>
                </a:solidFill>
                <a:latin typeface="Arial"/>
              </a:rPr>
              <a:t>PC-008 |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85216"/>
            <a:ext cx="68580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Old: No direct equivalent    New: 5.1.60-5.1.61    Risk: 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7223760" cy="16459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000" b="0">
                <a:solidFill>
                  <a:srgbClr val="80959E"/>
                </a:solidFill>
                <a:latin typeface="Arial"/>
              </a:rPr>
              <a:t>Application basis: Not identified in application | Major Amendment DDGS BH Maintenance_2025.11.10.pdf; Valero Welcome Minor Amendment 7277_2025.02.27.pdf; Valero Welcome Air Permit Minor Mod - DDGS Drag Replacement.pdf; Valero Welcome Air Permit Minor Mod - TO Inspection.pdf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749808"/>
            <a:ext cx="1828800" cy="16459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r"/>
            <a:r>
              <a:rPr sz="1000" b="0">
                <a:solidFill>
                  <a:srgbClr val="80959E"/>
                </a:solidFill>
                <a:latin typeface="Arial"/>
              </a:rPr>
              <a:t>Evidence: High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274320"/>
            <a:ext cx="1965960" cy="347472"/>
          </a:xfrm>
          <a:prstGeom prst="round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338328"/>
            <a:ext cx="164592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Highlight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53912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Old permit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New permit | page 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" y="1627632"/>
            <a:ext cx="4828032" cy="2377440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395728"/>
            <a:ext cx="4480560" cy="45720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ctr"/>
            <a:r>
              <a:rPr sz="1800" b="1">
                <a:solidFill>
                  <a:srgbClr val="80959E"/>
                </a:solidFill>
                <a:latin typeface="Arial"/>
              </a:rPr>
              <a:t>No corresponding condition in the issued permit.</a:t>
            </a:r>
          </a:p>
        </p:txBody>
      </p:sp>
      <p:pic>
        <p:nvPicPr>
          <p:cNvPr id="15" name="Picture 14" descr="PC-008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2601297"/>
            <a:ext cx="5102352" cy="84158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5230368"/>
            <a:ext cx="11137392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The draft requires fencing along the effective fence line, quarterly fence inspections with maintenance...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25695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5423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Why it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5423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The new terms expand enforceable monitoring and recordkeeping obligations tied to ambient-boundary control....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1582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0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0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Confirm whether existing fencing and gate controls already satisfy the draft language or...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412480" cy="310896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2200" b="1">
                <a:solidFill>
                  <a:srgbClr val="182836"/>
                </a:solidFill>
                <a:latin typeface="Arial"/>
              </a:rPr>
              <a:t>PC-010 | Fugitive Emissions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85216"/>
            <a:ext cx="68580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Old: No direct equivalent    New: 5.1.64-5.1.65    Risk: 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7223760" cy="16459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000" b="0">
                <a:solidFill>
                  <a:srgbClr val="80959E"/>
                </a:solidFill>
                <a:latin typeface="Arial"/>
              </a:rPr>
              <a:t>Application basis: Not identified in application | Major Amendment DDGS BH Maintenance_2025.11.10.pdf; Valero Welcome Minor Amendment 7277_2025.02.27.pdf; Valero Welcome Air Permit Minor Mod - DDGS Drag Replacement.pdf; Valero Welcome Air Permit Minor Mod - TO Inspection.pdf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749808"/>
            <a:ext cx="1828800" cy="16459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r"/>
            <a:r>
              <a:rPr sz="1000" b="0">
                <a:solidFill>
                  <a:srgbClr val="80959E"/>
                </a:solidFill>
                <a:latin typeface="Arial"/>
              </a:rPr>
              <a:t>Evidence: High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274320"/>
            <a:ext cx="1965960" cy="347472"/>
          </a:xfrm>
          <a:prstGeom prst="round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338328"/>
            <a:ext cx="164592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Highlight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53912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Old permit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New permit | page 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" y="1627632"/>
            <a:ext cx="4828032" cy="2377440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395728"/>
            <a:ext cx="4480560" cy="45720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ctr"/>
            <a:r>
              <a:rPr sz="1800" b="1">
                <a:solidFill>
                  <a:srgbClr val="80959E"/>
                </a:solidFill>
                <a:latin typeface="Arial"/>
              </a:rPr>
              <a:t>No corresponding condition in the issued permit.</a:t>
            </a:r>
          </a:p>
        </p:txBody>
      </p:sp>
      <p:pic>
        <p:nvPicPr>
          <p:cNvPr id="15" name="Picture 14" descr="PC-010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2117119"/>
            <a:ext cx="5102352" cy="180994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5230368"/>
            <a:ext cx="11137392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The draft adds a requirement to clean up spilled commodities as needed to minimize fugitive emissions and...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25695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5423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Why it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5423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The spill-cleanup term reinforces fugitive dust control expectations. The nuisance language could broaden...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1582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0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0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Confirm with agency whether the nuisance language is standard for this permit form and...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029200" cy="41148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2400" b="1">
                <a:solidFill>
                  <a:srgbClr val="182836"/>
                </a:solidFill>
                <a:latin typeface="Arial"/>
              </a:rPr>
              <a:t>Close-Out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1097280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53312"/>
            <a:ext cx="402336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500" b="1">
                <a:solidFill>
                  <a:srgbClr val="182836"/>
                </a:solidFill>
                <a:latin typeface="Arial"/>
              </a:rPr>
              <a:t>Recommended client discussion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64208"/>
            <a:ext cx="4846320" cy="329184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80959E"/>
                </a:solidFill>
                <a:latin typeface="Arial"/>
              </a:defRPr>
            </a:pPr>
            <a:r>
              <a:t>Whether the STRU 11 direct-vent AOS 2 is operationally necessary and fully supported by the application and modeling basis.</a:t>
            </a:r>
          </a:p>
          <a:p>
            <a:pPr>
              <a:spcAft>
                <a:spcPts val="400"/>
              </a:spcAft>
              <a:defRPr sz="1700">
                <a:solidFill>
                  <a:srgbClr val="80959E"/>
                </a:solidFill>
                <a:latin typeface="Arial"/>
              </a:defRPr>
            </a:pPr>
            <a:r>
              <a:t>Whether MPCA intends the deleted PM10 modeling trigger framework to be replaced by other enforceable documents or internal review practices.</a:t>
            </a:r>
          </a:p>
          <a:p>
            <a:pPr>
              <a:spcAft>
                <a:spcPts val="400"/>
              </a:spcAft>
              <a:defRPr sz="1700">
                <a:solidFill>
                  <a:srgbClr val="80959E"/>
                </a:solidFill>
                <a:latin typeface="Arial"/>
              </a:defRPr>
            </a:pPr>
            <a:r>
              <a:t>Whether new boundary security, patrol, camera, and breach-reporting obligations match current site controls without added capital or staffing.</a:t>
            </a:r>
          </a:p>
          <a:p>
            <a:pPr>
              <a:spcAft>
                <a:spcPts val="400"/>
              </a:spcAft>
              <a:defRPr sz="1700">
                <a:solidFill>
                  <a:srgbClr val="80959E"/>
                </a:solidFill>
                <a:latin typeface="Arial"/>
              </a:defRPr>
            </a:pPr>
            <a:r>
              <a:t>Whether revised throughput and CAM thresholds align with current operations and accepted October 30, 2025 test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53312"/>
            <a:ext cx="402336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500" b="1">
                <a:solidFill>
                  <a:srgbClr val="182836"/>
                </a:solidFill>
                <a:latin typeface="Arial"/>
              </a:rPr>
              <a:t>Files in the package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64208"/>
            <a:ext cx="4480560" cy="219456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80959E"/>
                </a:solidFill>
                <a:latin typeface="Arial"/>
              </a:defRPr>
            </a:pPr>
            <a:r>
              <a:t>permit_comparison_analysis.xlsx</a:t>
            </a:r>
          </a:p>
          <a:p>
            <a:pPr>
              <a:spcAft>
                <a:spcPts val="400"/>
              </a:spcAft>
              <a:defRPr sz="1700">
                <a:solidFill>
                  <a:srgbClr val="80959E"/>
                </a:solidFill>
                <a:latin typeface="Arial"/>
              </a:defRPr>
            </a:pPr>
            <a:r>
              <a:t>permit_comparison_summary.md / .docx</a:t>
            </a:r>
          </a:p>
          <a:p>
            <a:pPr>
              <a:spcAft>
                <a:spcPts val="400"/>
              </a:spcAft>
              <a:defRPr sz="1700">
                <a:solidFill>
                  <a:srgbClr val="80959E"/>
                </a:solidFill>
                <a:latin typeface="Arial"/>
              </a:defRPr>
            </a:pPr>
            <a:r>
              <a:t>permit_significant_changes_presentation.pptx</a:t>
            </a:r>
          </a:p>
          <a:p>
            <a:pPr>
              <a:spcAft>
                <a:spcPts val="400"/>
              </a:spcAft>
              <a:defRPr sz="1700">
                <a:solidFill>
                  <a:srgbClr val="80959E"/>
                </a:solidFill>
                <a:latin typeface="Arial"/>
              </a:defRPr>
            </a:pPr>
            <a:r>
              <a:t>permit_review_interface.html for QAQC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297680"/>
            <a:ext cx="4572000" cy="7315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600" b="0">
                <a:solidFill>
                  <a:srgbClr val="80959E"/>
                </a:solidFill>
                <a:latin typeface="Arial"/>
              </a:rPr>
              <a:t>Excerpt images are pulled from the mapped permit pages and flagged at the condition location when possible.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